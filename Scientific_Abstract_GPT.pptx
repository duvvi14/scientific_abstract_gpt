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365760"/>
            <a:ext cx="1097280" cy="10972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463040"/>
            <a:ext cx="731520" cy="7315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120640"/>
            <a:ext cx="1463040" cy="146304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8046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Scientific-Abstract-GPT</a:t>
            </a:r>
          </a:p>
          <a:p>
            <a:pPr>
              <a:defRPr sz="2400">
                <a:solidFill>
                  <a:srgbClr val="DAE8FC"/>
                </a:solidFill>
              </a:defRPr>
            </a:pPr>
            <a:r>
              <a:t>A Decoder-Only Transformer for Scientific Abstract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403841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Presented by: Satya Bharath Reddy Duvvi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Master of Science in </a:t>
            </a:r>
            <a:r>
              <a:rPr lang="en-US" dirty="0"/>
              <a:t>Data</a:t>
            </a:r>
            <a:r>
              <a:rPr dirty="0"/>
              <a:t>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40"/>
            <a:ext cx="2834640" cy="3200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346704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PyTorch</a:t>
            </a:r>
            <a:r>
              <a:rPr dirty="0"/>
              <a:t> · GPT · </a:t>
            </a:r>
            <a:r>
              <a:rPr dirty="0" err="1"/>
              <a:t>arXiv</a:t>
            </a:r>
            <a:r>
              <a:rPr dirty="0"/>
              <a:t> · BPE · </a:t>
            </a:r>
            <a:r>
              <a:rPr dirty="0" err="1"/>
              <a:t>Gradio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46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21031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2880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Input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Research paper title + research subject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377440"/>
            <a:ext cx="960120" cy="0"/>
          </a:xfrm>
          <a:prstGeom prst="line">
            <a:avLst/>
          </a:prstGeom>
          <a:ln w="317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57800" y="1325880"/>
            <a:ext cx="32461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57800" y="1325880"/>
            <a:ext cx="73152" cy="210312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1490472"/>
            <a:ext cx="2880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GPT Model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Decoder-only Transformer trained for next-token prediction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377440"/>
            <a:ext cx="960120" cy="0"/>
          </a:xfrm>
          <a:prstGeom prst="line">
            <a:avLst/>
          </a:prstGeom>
          <a:ln w="317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1325880"/>
            <a:ext cx="17373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784080" y="1325880"/>
            <a:ext cx="73152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12680" y="1490472"/>
            <a:ext cx="13716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Scientific abstract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Motivation: scientific abstracts require concise technical writing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Goal: demonstrate GPT internals by building and training from scratch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Application: early-stage research writing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Dataset &amp;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143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Dataset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arXiv research papers from Hugging 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143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490472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Selected Categories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cs.AI · cs.LG · cs.CL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731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490472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Split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Train · Validation ·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t>Structural Tokens Added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703320"/>
            <a:ext cx="1508760" cy="3200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3758183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&lt;TITLE&gt;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703320"/>
            <a:ext cx="1508760" cy="32004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77639" y="3758183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&lt;SUBJECT&gt;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150876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3758183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&lt;ABSTRACT&gt;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703320"/>
            <a:ext cx="150876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3758183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&lt;END&gt;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0916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Cleaned missing and noisy records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Standardized text structure so the model learns section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Project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Raw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Dataset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3063240"/>
            <a:ext cx="155447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659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79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Data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Preprocessing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063240"/>
            <a:ext cx="155448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79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BPE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Tokenization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063240"/>
            <a:ext cx="155448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GPT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Architecture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3063240"/>
            <a:ext cx="155448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Model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Training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23760" y="3063240"/>
            <a:ext cx="155448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0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Text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Generation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3063240"/>
            <a:ext cx="155448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239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0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Evaluation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66960" y="3063240"/>
            <a:ext cx="155448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95560" y="2560320"/>
            <a:ext cx="1143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0" y="2788920"/>
            <a:ext cx="1051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A1F44"/>
                </a:solidFill>
              </a:defRPr>
            </a:pPr>
            <a:r>
              <a:t>Gradio</a:t>
            </a:r>
          </a:p>
          <a:p>
            <a:pPr algn="ctr">
              <a:defRPr sz="1300" b="1">
                <a:solidFill>
                  <a:srgbClr val="0A1F44"/>
                </a:solidFill>
              </a:defRPr>
            </a:pPr>
            <a:r>
              <a:t>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End-to-end workflow: raw research metadata → deployed generation demo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Reusable src/gpt_components.py avoids duplicating model architecture across notebooks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GPT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3840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73152" cy="5669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153176"/>
            <a:ext cx="34747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Structured Prompt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&lt;TITLE&gt; + &lt;SUBJECT&gt; + &lt;ABSTRACT&gt;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709928"/>
            <a:ext cx="0" cy="164591"/>
          </a:xfrm>
          <a:prstGeom prst="line">
            <a:avLst/>
          </a:prstGeom>
          <a:ln w="2032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1874519"/>
            <a:ext cx="3840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874519"/>
            <a:ext cx="73152" cy="5669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869948"/>
            <a:ext cx="34747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BPE Tokenizer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Text → token IDs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441448"/>
            <a:ext cx="0" cy="164592"/>
          </a:xfrm>
          <a:prstGeom prst="line">
            <a:avLst/>
          </a:prstGeom>
          <a:ln w="2032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2606040"/>
            <a:ext cx="3840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2606040"/>
            <a:ext cx="73152" cy="566928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2590947"/>
            <a:ext cx="34747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Token + Positional Embeddings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Represent tokens and order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3172968"/>
            <a:ext cx="0" cy="164592"/>
          </a:xfrm>
          <a:prstGeom prst="line">
            <a:avLst/>
          </a:prstGeom>
          <a:ln w="2032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337560"/>
            <a:ext cx="3840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337560"/>
            <a:ext cx="73152" cy="5669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324335"/>
            <a:ext cx="34747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Transformer Blocks × 6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Masked multi-head attention + feed-forward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3904487"/>
            <a:ext cx="0" cy="347473"/>
          </a:xfrm>
          <a:prstGeom prst="line">
            <a:avLst/>
          </a:prstGeom>
          <a:ln w="2032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251960"/>
            <a:ext cx="3840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251960"/>
            <a:ext cx="73152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247388"/>
            <a:ext cx="34747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Linear Output Head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Logits over vocabulary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4818888"/>
            <a:ext cx="0" cy="164592"/>
          </a:xfrm>
          <a:prstGeom prst="line">
            <a:avLst/>
          </a:prstGeom>
          <a:ln w="2032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983480"/>
            <a:ext cx="3840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983480"/>
            <a:ext cx="73152" cy="5669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018778"/>
            <a:ext cx="34747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Autoregressive Generation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Next token → abstract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1874519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2057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F44"/>
                </a:solidFill>
              </a:defRPr>
            </a:pPr>
            <a:r>
              <a:t>Inside each Transformer 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606040"/>
            <a:ext cx="4434840" cy="29260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2642616"/>
            <a:ext cx="4251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1C26"/>
                </a:solidFill>
              </a:defRPr>
            </a:pPr>
            <a:r>
              <a:t>LayerNorm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999232"/>
            <a:ext cx="4434840" cy="29260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3035808"/>
            <a:ext cx="4251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1C26"/>
                </a:solidFill>
              </a:defRPr>
            </a:pPr>
            <a:r>
              <a:t>Masked Multi-Head Self-Attention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392424"/>
            <a:ext cx="4434840" cy="29260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3429000"/>
            <a:ext cx="4251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1C26"/>
                </a:solidFill>
              </a:defRPr>
            </a:pPr>
            <a:r>
              <a:t>Residual Add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785616"/>
            <a:ext cx="4434840" cy="29260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3822192"/>
            <a:ext cx="4251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1C26"/>
                </a:solidFill>
              </a:defRPr>
            </a:pPr>
            <a:r>
              <a:t>LayerNorm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4178808"/>
            <a:ext cx="4434840" cy="29260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4215384"/>
            <a:ext cx="4251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1C26"/>
                </a:solidFill>
              </a:defRPr>
            </a:pPr>
            <a:r>
              <a:t>Feed-Forward Network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572000"/>
            <a:ext cx="4434840" cy="29260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4608576"/>
            <a:ext cx="4251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71C26"/>
                </a:solidFill>
              </a:defRPr>
            </a:pPr>
            <a:r>
              <a:t>Residual Add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Tokenization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34874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Byte-Level BPE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Learns frequent </a:t>
            </a:r>
            <a:r>
              <a:rPr dirty="0" err="1"/>
              <a:t>subword</a:t>
            </a:r>
            <a:r>
              <a:rPr dirty="0"/>
              <a:t> units from scientific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234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26280" y="1234440"/>
            <a:ext cx="73152" cy="1417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5" y="1341758"/>
            <a:ext cx="33127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Why not character-level?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sz="1200" dirty="0"/>
              <a:t>Character models learn letters first</a:t>
            </a:r>
            <a:r>
              <a:rPr lang="en-US" sz="1200" dirty="0"/>
              <a:t> </a:t>
            </a:r>
            <a:r>
              <a:rPr sz="1200" dirty="0"/>
              <a:t>and require much longer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3444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21040" y="123444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03" y="1338564"/>
            <a:ext cx="238405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rPr dirty="0"/>
              <a:t>Why BPE?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Handles rare terms and reduces </a:t>
            </a:r>
            <a:endParaRPr lang="en-US" dirty="0"/>
          </a:p>
          <a:p>
            <a:pPr>
              <a:defRPr sz="1300">
                <a:solidFill>
                  <a:srgbClr val="596070"/>
                </a:solidFill>
              </a:defRPr>
            </a:pPr>
            <a:r>
              <a:rPr dirty="0"/>
              <a:t>sequence length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246120"/>
            <a:ext cx="9875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520440"/>
            <a:ext cx="9326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A1F44"/>
                </a:solidFill>
              </a:defRPr>
            </a:pPr>
            <a:r>
              <a:t>&lt;TITLE&gt; Transformer Models for Medical Imaging</a:t>
            </a:r>
          </a:p>
          <a:p>
            <a:pPr>
              <a:defRPr sz="1800">
                <a:solidFill>
                  <a:srgbClr val="596070"/>
                </a:solidFill>
              </a:defRPr>
            </a:pPr>
            <a:r>
              <a:t>→ ['&lt;TITLE&gt;', ' Transformer', ' Models', ' for', ' Medical', ' Imaging']</a:t>
            </a:r>
          </a:p>
          <a:p>
            <a:pPr>
              <a:defRPr sz="1600" b="1">
                <a:solidFill>
                  <a:srgbClr val="009688"/>
                </a:solidFill>
              </a:defRPr>
            </a:pPr>
            <a:r>
              <a:t>Structural tokens remain atomic during tokenization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Model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291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73152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Objective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Next-token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291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73152" cy="118872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53619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Cross-entropy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3619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Optimizer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AdamW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71C26"/>
                </a:solidFill>
              </a:defRPr>
            </a:pPr>
            <a:r>
              <a:t>Learning-rate warmup + cosine decay improves stability</a:t>
            </a:r>
          </a:p>
          <a:p>
            <a:pPr>
              <a:spcAft>
                <a:spcPts val="800"/>
              </a:spcAft>
              <a:defRPr sz="2100">
                <a:solidFill>
                  <a:srgbClr val="171C26"/>
                </a:solidFill>
              </a:defRPr>
            </a:pPr>
            <a:r>
              <a:t>Mixed precision improves GPU memory usage and training speed</a:t>
            </a:r>
          </a:p>
          <a:p>
            <a:pPr>
              <a:spcAft>
                <a:spcPts val="800"/>
              </a:spcAft>
              <a:defRPr sz="2100">
                <a:solidFill>
                  <a:srgbClr val="171C26"/>
                </a:solidFill>
              </a:defRPr>
            </a:pPr>
            <a:r>
              <a:t>Gradient clipping prevents unstable updates</a:t>
            </a:r>
          </a:p>
          <a:p>
            <a:pPr>
              <a:spcAft>
                <a:spcPts val="800"/>
              </a:spcAft>
              <a:defRPr sz="2100">
                <a:solidFill>
                  <a:srgbClr val="171C26"/>
                </a:solidFill>
              </a:defRPr>
            </a:pPr>
            <a:r>
              <a:t>Best checkpoint saved using validation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Training &amp; Validation Loss</a:t>
            </a:r>
          </a:p>
        </p:txBody>
      </p:sp>
      <p:pic>
        <p:nvPicPr>
          <p:cNvPr id="4" name="Picture 3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675120" cy="39776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371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73152" cy="10058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1536192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Initial 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≈ 9.036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606040"/>
            <a:ext cx="3474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2606040"/>
            <a:ext cx="73152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770632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Final Train 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3.8820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40480"/>
            <a:ext cx="3474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3840480"/>
            <a:ext cx="73152" cy="10058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4005072"/>
            <a:ext cx="3108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Final Validation 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3.8883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5074920"/>
            <a:ext cx="3474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507492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523951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Tiny Gap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0.0062 → no clear overfitting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Evaluation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1325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Training 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3.8820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20440" y="1371600"/>
            <a:ext cx="73152" cy="1325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53619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Validation 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3.8883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3619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Test Loss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3.8807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89720" y="1371600"/>
            <a:ext cx="73152" cy="1325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53619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Test Perplexity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48.46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246120"/>
            <a:ext cx="73152" cy="1325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41071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Structural Compliance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95.83%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0440" y="32461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341071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END-token Completion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83.33%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246120"/>
            <a:ext cx="73152" cy="132588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41071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Avg Abstract Length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130 words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2461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89720" y="3246120"/>
            <a:ext cx="73152" cy="1325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3410712"/>
            <a:ext cx="2148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Trigram Repetition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0.0083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C26"/>
                </a:solidFill>
              </a:defRPr>
            </a:pPr>
            <a:r>
              <a:t>Training, validation, and test losses are closely aligned</a:t>
            </a:r>
          </a:p>
          <a:p>
            <a:pPr>
              <a:spcAft>
                <a:spcPts val="800"/>
              </a:spcAft>
              <a:defRPr sz="1700">
                <a:solidFill>
                  <a:srgbClr val="171C26"/>
                </a:solidFill>
              </a:defRPr>
            </a:pPr>
            <a:r>
              <a:t>Generation follows the expected scientific format with low repetition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Example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53312"/>
            <a:ext cx="4389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Input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Title: Transformer Models for Medical Image Analysis</a:t>
            </a:r>
            <a:br/>
            <a:r>
              <a:t>Subject: Machine Learning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23560" y="1737360"/>
            <a:ext cx="77724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37960" y="1188720"/>
            <a:ext cx="4892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188720"/>
            <a:ext cx="73152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353312"/>
            <a:ext cx="452627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Generated scientific 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32689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rPr dirty="0"/>
              <a:t>The model generates an abstract autoregressively. Meaningful scientific titles produce better topic relevance, while random titles still produce generic scientific-style abstracts.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2676" y="3977639"/>
            <a:ext cx="18473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6070"/>
                </a:solidFill>
              </a:defRPr>
            </a:pPr>
            <a:endParaRPr sz="800" dirty="0"/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Built with Gradio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User enters a research title and subject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Controls: temperature, top-k, top-p, maximum tokens, repetition penalty</a:t>
            </a:r>
          </a:p>
          <a:p>
            <a:pPr>
              <a:spcAft>
                <a:spcPts val="800"/>
              </a:spcAft>
              <a:defRPr sz="2000">
                <a:solidFill>
                  <a:srgbClr val="171C26"/>
                </a:solidFill>
              </a:defRPr>
            </a:pPr>
            <a:r>
              <a:t>Displays generated abstract, structured output, and generation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430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Scientific Paper Title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389120" cy="3200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Research Subject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14600"/>
            <a:ext cx="4389120" cy="3200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Generation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4389120" cy="3200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F44"/>
                </a:solidFill>
              </a:defRPr>
            </a:pPr>
            <a:r>
              <a:t>Generated Abstract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59"/>
            <a:ext cx="43891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5166360"/>
            <a:ext cx="2011680" cy="38404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524865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Generate Abstract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4389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234440"/>
            <a:ext cx="73152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399032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GPU Memory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Challenge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1618488"/>
            <a:ext cx="777240" cy="0"/>
          </a:xfrm>
          <a:prstGeom prst="line">
            <a:avLst/>
          </a:prstGeom>
          <a:ln w="2286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46520" y="1234440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123444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399032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Mixed precision + gradient accumulation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77440"/>
            <a:ext cx="4389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2377440"/>
            <a:ext cx="73152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542032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Repetitive Text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Challenge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2761488"/>
            <a:ext cx="777240" cy="0"/>
          </a:xfrm>
          <a:prstGeom prst="line">
            <a:avLst/>
          </a:prstGeom>
          <a:ln w="2286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46520" y="2377440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237744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542032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Top-k/top-p + repetition penalty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20440"/>
            <a:ext cx="4389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520440"/>
            <a:ext cx="73152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685032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Structure Learning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Challenge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3904488"/>
            <a:ext cx="777240" cy="0"/>
          </a:xfrm>
          <a:prstGeom prst="line">
            <a:avLst/>
          </a:prstGeom>
          <a:ln w="2286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46520" y="3520440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52044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685032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&lt;TITLE&gt;, &lt;SUBJECT&gt;, &lt;ABSTRACT&gt;, &lt;END&gt;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663440"/>
            <a:ext cx="4389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663440"/>
            <a:ext cx="73152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828031"/>
            <a:ext cx="40233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Notebook Consistency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Challenge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0" y="5047488"/>
            <a:ext cx="777240" cy="0"/>
          </a:xfrm>
          <a:prstGeom prst="line">
            <a:avLst/>
          </a:prstGeom>
          <a:ln w="2286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46520" y="4663440"/>
            <a:ext cx="45720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46520" y="466344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4828031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Reusable src/gpt_components.py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71C26"/>
                </a:solidFill>
              </a:defRPr>
            </a:pPr>
            <a:r>
              <a:t>Small GPT trained from scratch; not comparable to production-scale LLMs</a:t>
            </a:r>
          </a:p>
          <a:p>
            <a:pPr>
              <a:spcAft>
                <a:spcPts val="800"/>
              </a:spcAft>
              <a:defRPr sz="2200">
                <a:solidFill>
                  <a:srgbClr val="171C26"/>
                </a:solidFill>
              </a:defRPr>
            </a:pPr>
            <a:r>
              <a:t>Generated abstracts can be scientifically styled but may not be factually correct</a:t>
            </a:r>
          </a:p>
          <a:p>
            <a:pPr>
              <a:spcAft>
                <a:spcPts val="800"/>
              </a:spcAft>
              <a:defRPr sz="2200">
                <a:solidFill>
                  <a:srgbClr val="171C26"/>
                </a:solidFill>
              </a:defRPr>
            </a:pPr>
            <a:r>
              <a:t>Limited context window restricts long-document generation</a:t>
            </a:r>
          </a:p>
          <a:p>
            <a:pPr>
              <a:spcAft>
                <a:spcPts val="800"/>
              </a:spcAft>
              <a:defRPr sz="2200">
                <a:solidFill>
                  <a:srgbClr val="171C26"/>
                </a:solidFill>
              </a:defRPr>
            </a:pPr>
            <a:r>
              <a:t>Perplexity and structural compliance do not fully measure scientific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F44"/>
                </a:solidFill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73152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44751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Scale Data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Train on larger and more diverse scientific corpora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8016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280160"/>
            <a:ext cx="73152" cy="118872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444751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Scale Model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Increase context length and model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8016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1280160"/>
            <a:ext cx="73152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444751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Fine-Tune LLMs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Compare from-scratch GPT with pretrained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5468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154680"/>
            <a:ext cx="7315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19272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Generate Sections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Introduction, Methods, Results, Conclusion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5468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3154680"/>
            <a:ext cx="73152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319272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RAG Grounding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Use real papers to improve factual reliability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154680"/>
            <a:ext cx="3383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154680"/>
            <a:ext cx="73152" cy="118872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319272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Human Evaluation</a:t>
            </a:r>
          </a:p>
          <a:p>
            <a:pPr>
              <a:defRPr sz="1300">
                <a:solidFill>
                  <a:srgbClr val="596070"/>
                </a:solidFill>
              </a:defRPr>
            </a:pPr>
            <a:r>
              <a:t>Assess coherence, relevance, and factuality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508760"/>
            <a:ext cx="9966960" cy="530352"/>
          </a:xfrm>
          <a:prstGeom prst="roundRect">
            <a:avLst/>
          </a:prstGeom>
          <a:solidFill>
            <a:srgbClr val="193769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840" y="1508760"/>
            <a:ext cx="73152" cy="5303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673351"/>
            <a:ext cx="960120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Built decoder-only GPT from scratch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13432"/>
            <a:ext cx="9966960" cy="530352"/>
          </a:xfrm>
          <a:prstGeom prst="roundRect">
            <a:avLst/>
          </a:prstGeom>
          <a:solidFill>
            <a:srgbClr val="193769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2313432"/>
            <a:ext cx="73152" cy="5303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478024"/>
            <a:ext cx="960120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Trained custom Byte-Level BPE tokenizer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18104"/>
            <a:ext cx="9966960" cy="530352"/>
          </a:xfrm>
          <a:prstGeom prst="roundRect">
            <a:avLst/>
          </a:prstGeom>
          <a:solidFill>
            <a:srgbClr val="193769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5840" y="3118104"/>
            <a:ext cx="73152" cy="5303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282696"/>
            <a:ext cx="960120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Added structural tokens for scientific document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22776"/>
            <a:ext cx="9966960" cy="530352"/>
          </a:xfrm>
          <a:prstGeom prst="roundRect">
            <a:avLst/>
          </a:prstGeom>
          <a:solidFill>
            <a:srgbClr val="193769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" y="3922776"/>
            <a:ext cx="73152" cy="5303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087368"/>
            <a:ext cx="960120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Trained, generated, evaluated, and deployed an interactive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727448"/>
            <a:ext cx="9966960" cy="530352"/>
          </a:xfrm>
          <a:prstGeom prst="roundRect">
            <a:avLst/>
          </a:prstGeom>
          <a:solidFill>
            <a:srgbClr val="193769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5840" y="4727448"/>
            <a:ext cx="73152" cy="5303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4892040"/>
            <a:ext cx="960120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F44"/>
                </a:solidFill>
              </a:defRPr>
            </a:pPr>
            <a:r>
              <a:t>Demonstrated end-to-end understanding of generative language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Thank you —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070"/>
                </a:solidFill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7</TotalTime>
  <Words>706</Words>
  <Application>Microsoft Office PowerPoint</Application>
  <PresentationFormat>Widescreen</PresentationFormat>
  <Paragraphs>190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 BHARATH REDDY DUVVI</cp:lastModifiedBy>
  <cp:revision>3</cp:revision>
  <dcterms:created xsi:type="dcterms:W3CDTF">2013-01-27T09:14:16Z</dcterms:created>
  <dcterms:modified xsi:type="dcterms:W3CDTF">2026-07-30T21:27:49Z</dcterms:modified>
  <cp:category/>
</cp:coreProperties>
</file>